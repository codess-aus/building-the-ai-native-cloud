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Good morning. I'm here to talk about building the AI-native cloud. Not AI in the cloud, not AI on top of the cloud, but a cloud where AI agents are first-class participants in how we build, ship, and run software. In the next 20 minutes I want to convince you that the shift from cloud-native to AI-native is the same magnitude of change as the shift from on-prem to cloud, and most of us are still bolting AI onto an operating model that was never designed for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Between the day Copilot suggested its first line of code and the day it started opening its own pull requests, something quietly shifted. It didn't arrive as one launch. It arrived as a stack: agent mode in the editor, coding agents on GitHub, the Model Context Protocol standardizing how tools plug into models, Spec Kit making the specification a durable artifact, AGENTS.md becoming the file where we tell AI teammates how to behave. The 2025 DORA report tells us roughly 90 percent of technologists now use AI at work. So the question is no longer are you using AI. The question is: is your delivery loop designed for AI, or are you still bolting AI onto a loop designed without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Three eras. Traditional: humans do every stage, AI is absent. AI-assisted: humans still drive, but Copilot helps at each step. The loop is unchanged, it just runs faster. AI-native: the loop itself is redesigned. Specs become first-class, context is engineered, agents run end-to-end stages, traces are auditable artifacts. The diagnostic question, next time someone says they're doing AI-native, is which row of this table did their loop actually change? If the answer is just we turned on Copilot, that's AI-assisted. Good place to be. Not the same 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Here is the definition I want you to leave with. AI-native software development means designing your delivery loop so AI isn't just helping developers, it's participating alongside them. Agents aren't tools you use. They're contributors you design for, with defined roles, guardrails, feedback loops, and accountability. Three words do the real work. Designing: it's a choice about the loop, not a checkbox on a tool. Participating: AI takes turns, opens PRs, files issues. Accountable: every agent action leaves a trail.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Six stages. Intent: captured deliberately, not in a Slack thread. Spec: an artifact in the repo, brief and reviewable in five minutes. Context: engineered through AGENTS.md, MCP servers, and per-task context packets. Change: made by a human, by agent mode, or by the coding agent, anchored on the spec. Verification: layered from cheap to expensive: tests, evaluators, policy gates, human review. Delivery: ships through your existing CI/CD and feeds production signals back into the spec, not just the backlog. The new artifact at the start is the spec. The new arrow at the end is the feedback into the spec. Everything else is rebalanced, not reinvented.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I want to be clear with this audience: AI-native does not throw away cloud-native. It depends on it. Containers, declarative infrastructure, GitOps, observability, zero-trust networking, ephemeral environments: every one of these is a prerequisite for safe agent participation. The coding agent runs in an ephemeral environment because we learned to build ephemeral environments. It can be scoped to a branch because we learned branch protection. It can call an internal API through an MCP server because we learned service meshes and tokens. Cloud-native gave us the substrate. AI-native is what we build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The most uncomfortable change for engineers is this: the spec is now the durable artifact, and the code is downstream of it. Spec Kit formalizes this with a Specify, Plan, Tasks, Implement flow. But you don't need the toolkit to start. A five-line Markdown file in a specs/ folder with why, what changes for the user, success criteria, and out of scope is enough. The point is not to anticipate every edge case. The point is to give the agent and the reviewer a shared contract. And here's the quiet superpower: surfacing ambiguity in a spec review, before any code is written, is dramatically cheaper than catching it in a PR.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Context is engineered, not assumed. Three layers. First, AGENTS.md: a plain Markdown file in the repo that tells agents how this codebase prefers to be edited. What library to use for dates. Which branches it can push to. Which conventions are non-negotiable. Second, MCP servers: the Model Context Protocol lets you expose your wiki, your observability platform, your internal APIs as first-class tools the agent can call. Writing a custom MCP server is a weekend project, not a quarter-long migration. Third, per-task context packets for non-trivial work. When an agent produces code that is locally plausible and globally wrong, the cause is almost always context starvation. Fix context, fix the agent.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A colleague told me recently, these are dark times to be developers. Small companies will cut three engineers and keep the two who can talk to the business and code faster with AI. I disagree, strongly. Companies that think AI is about doing yesterday's work with fewer developers won't be around in two years. That's not transformation, that's decline. If you want to win with AI, you expand ambition, not shrink headcount. You give developers space to orchestrate fleets of agents, to apply judgment and creativity at a completely different scale. The operating model shift is this: engineers become specifiers, context curators, and reviewers of intent. The keyboard time goes down. The judgment time goes up. That is a more senior job, not a smaller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Reliability in an AI-native cloud rests on one principle: no invisible work. Every agent run leaves a trace. Model version. Tools called. Files touched. Spec citation per commit. When something breaks at 2am, the on-call engineer has to be able to reconstruct why a change was made, not just what changed. Verification is layered, cheap to expensive: deterministic tests first, then AI evaluators checking the diff against the spec's success criteria, then policy gates including Advanced Security and Copilot Autofix, then human review focused on intent and integration. The funnel design is what makes the expensive layers economic. Treat agent PRs like any other contributor: sample one in ten for deep review, chosen at random. The moment you start skimming because they look right, you have drifted.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Security teams: an agent is a new identity class. It needs an identity, a scoped permission set, an audit trail, and a blast radius. Decide in week one, not after the near-miss. Which branches can an agent push to? Which MCP tools can it call? Which secrets must it never see? Write the answers in AGENTS.md and enforce them in branch protection and environment policies. Prompt injection is the new SQL injection: any text the agent reads, including issue comments, web pages fetched by tools, even file contents, is potentially adversarial. The mitigations are familiar in shape: least privilege, output validation, human approval gates for high-impact actions, and the principle that an agent should never hold a secret it cannot rotate.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Governance is where most teams will stumble in 2026. Three practical moves. One: make AGENTS.md a reviewed artifact, just like code. Changes to it go through PR review. Two: preserve agent run summaries on every PR, model version included. In regulated industries this is a compliance question, not a nice-to-have. Auditors will ask which model made this change, with what tools, against which spec. You want the answer to be a link, not an investigation. Three: set anti-goals explicitly. Write down what you are not trying to optimize for. Maximum agent autonomy at the expense of accountability is an anti-goal. AI did it is never a sufficient explanation in a post-incident review. Anti-goals are where hard-won wisdom lives.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Seven failure modes will hit you in the first six months. I'll name them fast and you'll recognize at least two. Vibe-driven development: plausible diff, hidden bug. Fix: no agent run without a spec. Context starvation: locally plausible, globally wrong. Fix: invest in AGENTS.md and MCP. Trust drift: you start skimming. Fix: random deep-review sampling. Mistaking the agent for the loop: productivity bump, declare victory, stop investing. Fix: the artifacts make the loop better, the agent is one participant. Invisible agent work: future incident waiting. Fix: preserve traces. Deferring governance: locking down after a near-miss costs more. Fix: decide permissions in week one. Confusing productivity with capability: faster typing is not a better loop. Fix: measure artifact quality, not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Here is what I want you to take back. One page. The AI-Native Success Criteria Memo. Loop scope: when do you consider your loop AI-native? Artifact criteria: what does every change retain? Quality bars: what blocks a merge? Human responsibility: which human, named by role? Anti-goals: what are you deliberately not optimizing for? Review cadence: quarterly, with an owner. Write v1 this week. It should be slightly embarrassing in its specificity, not polished for a slide. A bar the team routinely ignores teaches everyone the memo is decorative. The memo is a target, not a description of done. But it's the artifact that turns this talk into practice.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800" b="0">
                <a:solidFill>
                  <a:srgbClr val="111111"/>
                </a:solidFill>
                <a:latin typeface="Calibri"/>
              </a:rPr>
              <a:t>Three questions to carry home. One: on your team's last non-trivial change, who actually decided what done meant? A human, an agent, or no one in particular? Two: which stage of your current loop would change least if every AI capability turned off tomorrow? That's where you're still doing traditional or AI-assisted work. Three: which of the seven failure modes is most likely to bite your team first? Write it on a sticky note before you leave this room. The AI-native cloud is not a product you buy. It's a loop you design.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2011680"/>
            <a:ext cx="11094415" cy="1280160"/>
          </a:xfrm>
        </p:spPr>
        <p:txBody>
          <a:bodyPr wrap="square" anchor="t" lIns="45720" rIns="45720" tIns="18288" bIns="18288"/>
          <a:lstStyle/>
          <a:p>
            <a:pPr algn="l"/>
            <a:r>
              <a:rPr sz="5400" b="1">
                <a:solidFill>
                  <a:srgbClr val="111111"/>
                </a:solidFill>
                <a:latin typeface="Calibri"/>
              </a:rPr>
              <a:t>Building the AI-Native Cloud</a:t>
            </a:r>
          </a:p>
        </p:txBody>
      </p:sp>
      <p:sp>
        <p:nvSpPr>
          <p:cNvPr id="4" name="TextBox 3"/>
          <p:cNvSpPr txBox="1"/>
          <p:nvPr/>
        </p:nvSpPr>
        <p:spPr>
          <a:xfrm>
            <a:off x="548640" y="3383280"/>
            <a:ext cx="11094415" cy="640080"/>
          </a:xfrm>
          <a:prstGeom prst="rect">
            <a:avLst/>
          </a:prstGeom>
          <a:noFill/>
        </p:spPr>
        <p:txBody>
          <a:bodyPr wrap="square" anchor="t" lIns="45720" rIns="45720" tIns="18288" bIns="18288">
            <a:spAutoFit/>
          </a:bodyPr>
          <a:lstStyle/>
          <a:p>
            <a:pPr algn="l"/>
            <a:r>
              <a:rPr sz="2800" b="1">
                <a:solidFill>
                  <a:srgbClr val="0E7C86"/>
                </a:solidFill>
                <a:latin typeface="Calibri"/>
              </a:rPr>
              <a:t>From cloud-native to AI-native</a:t>
            </a:r>
          </a:p>
        </p:txBody>
      </p:sp>
      <p:sp>
        <p:nvSpPr>
          <p:cNvPr id="5" name="Rectangle 4" descr="Decorative accent rule"/>
          <p:cNvSpPr/>
          <p:nvPr/>
        </p:nvSpPr>
        <p:spPr>
          <a:xfrm>
            <a:off x="548640" y="4206240"/>
            <a:ext cx="1463040" cy="38100"/>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4480560"/>
            <a:ext cx="11094415" cy="548640"/>
          </a:xfrm>
          <a:prstGeom prst="rect">
            <a:avLst/>
          </a:prstGeom>
          <a:noFill/>
        </p:spPr>
        <p:txBody>
          <a:bodyPr wrap="square" anchor="t" lIns="45720" rIns="45720" tIns="18288" bIns="18288">
            <a:spAutoFit/>
          </a:bodyPr>
          <a:lstStyle/>
          <a:p>
            <a:pPr algn="l"/>
            <a:r>
              <a:rPr sz="2200" b="0">
                <a:solidFill>
                  <a:srgbClr val="4A4A4A"/>
                </a:solidFill>
                <a:latin typeface="Calibri"/>
              </a:rPr>
              <a:t>Michelle Mei-Ling Sandford  ·  Asia DevOps Conference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The Quiet Shift</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2024 to 2026: a stack of compatible primitives</a:t>
            </a:r>
          </a:p>
          <a:p>
            <a:pPr algn="l">
              <a:lnSpc>
                <a:spcPct val="115000"/>
              </a:lnSpc>
              <a:spcAft>
                <a:spcPts val="1000"/>
              </a:spcAft>
            </a:pPr>
            <a:r>
              <a:rPr sz="2200" b="1">
                <a:solidFill>
                  <a:srgbClr val="0E7C86"/>
                </a:solidFill>
                <a:latin typeface="Calibri"/>
              </a:rPr>
              <a:t>■  </a:t>
            </a:r>
            <a:r>
              <a:rPr sz="2200" b="0">
                <a:solidFill>
                  <a:srgbClr val="111111"/>
                </a:solidFill>
                <a:latin typeface="Calibri"/>
              </a:rPr>
              <a:t>Agent mode, coding agents, MCP, Spec Kit, AGENTS.md</a:t>
            </a:r>
          </a:p>
          <a:p>
            <a:pPr algn="l">
              <a:lnSpc>
                <a:spcPct val="115000"/>
              </a:lnSpc>
              <a:spcAft>
                <a:spcPts val="1000"/>
              </a:spcAft>
            </a:pPr>
            <a:r>
              <a:rPr sz="2200" b="1">
                <a:solidFill>
                  <a:srgbClr val="0E7C86"/>
                </a:solidFill>
                <a:latin typeface="Calibri"/>
              </a:rPr>
              <a:t>■  </a:t>
            </a:r>
            <a:r>
              <a:rPr sz="2200" b="0">
                <a:solidFill>
                  <a:srgbClr val="111111"/>
                </a:solidFill>
                <a:latin typeface="Calibri"/>
              </a:rPr>
              <a:t>~90% of technologists use AI at work (DORA 2025)</a:t>
            </a:r>
          </a:p>
          <a:p>
            <a:pPr algn="l">
              <a:lnSpc>
                <a:spcPct val="115000"/>
              </a:lnSpc>
              <a:spcAft>
                <a:spcPts val="1000"/>
              </a:spcAft>
            </a:pPr>
            <a:r>
              <a:rPr sz="2200" b="1">
                <a:solidFill>
                  <a:srgbClr val="0E7C86"/>
                </a:solidFill>
                <a:latin typeface="Calibri"/>
              </a:rPr>
              <a:t>■  </a:t>
            </a:r>
            <a:r>
              <a:rPr sz="2200" b="0">
                <a:solidFill>
                  <a:srgbClr val="111111"/>
                </a:solidFill>
                <a:latin typeface="Calibri"/>
              </a:rPr>
              <a:t>New question: is your loop designed for AI?</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Three Eras, Side by Side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descr="Comparison table of three eras: Traditional, AI-Assisted, AI-Native, across unit of work, who edits, artifacts, and governance."/>
          <p:cNvGraphicFramePr>
            <a:graphicFrameLocks noGrp="1"/>
          </p:cNvGraphicFramePr>
          <p:nvPr/>
        </p:nvGraphicFramePr>
        <p:xfrm>
          <a:off x="548640" y="1783080"/>
          <a:ext cx="11094414" cy="4297680"/>
        </p:xfrm>
        <a:graphic>
          <a:graphicData uri="http://schemas.openxmlformats.org/drawingml/2006/table">
            <a:tbl>
              <a:tblPr firstRow="1" bandRow="1">
                <a:tableStyleId>{5C22544A-7EE6-4342-B048-85BDC9FD1C3A}</a:tableStyleId>
              </a:tblPr>
              <a:tblGrid>
                <a:gridCol w="1828800"/>
                <a:gridCol w="3088538"/>
                <a:gridCol w="3088538"/>
                <a:gridCol w="3088538"/>
              </a:tblGrid>
              <a:tr h="859536">
                <a:tc>
                  <a:txBody>
                    <a:bodyPr wrap="square" anchor="ctr" lIns="45720" rIns="45720" tIns="18288" bIns="18288"/>
                    <a:lstStyle/>
                    <a:p>
                      <a:pPr algn="l"/>
                      <a:r>
                        <a:rPr sz="2000" b="1">
                          <a:solidFill>
                            <a:srgbClr val="FFFFFF"/>
                          </a:solidFill>
                          <a:latin typeface="Calibri"/>
                        </a:rPr>
                        <a:t/>
                      </a:r>
                    </a:p>
                  </a:txBody>
                  <a:tcPr marL="109728" marR="109728" marT="73152" marB="73152">
                    <a:solidFill>
                      <a:srgbClr val="0E7C86"/>
                    </a:solidFill>
                  </a:tcPr>
                </a:tc>
                <a:tc>
                  <a:txBody>
                    <a:bodyPr wrap="square" anchor="ctr" lIns="45720" rIns="45720" tIns="18288" bIns="18288"/>
                    <a:lstStyle/>
                    <a:p>
                      <a:pPr algn="l"/>
                      <a:r>
                        <a:rPr sz="2000" b="1">
                          <a:solidFill>
                            <a:srgbClr val="FFFFFF"/>
                          </a:solidFill>
                          <a:latin typeface="Calibri"/>
                        </a:rPr>
                        <a:t>Traditional</a:t>
                      </a:r>
                    </a:p>
                  </a:txBody>
                  <a:tcPr marL="109728" marR="109728" marT="73152" marB="73152">
                    <a:solidFill>
                      <a:srgbClr val="0E7C86"/>
                    </a:solidFill>
                  </a:tcPr>
                </a:tc>
                <a:tc>
                  <a:txBody>
                    <a:bodyPr wrap="square" anchor="ctr" lIns="45720" rIns="45720" tIns="18288" bIns="18288"/>
                    <a:lstStyle/>
                    <a:p>
                      <a:pPr algn="l"/>
                      <a:r>
                        <a:rPr sz="2000" b="1">
                          <a:solidFill>
                            <a:srgbClr val="FFFFFF"/>
                          </a:solidFill>
                          <a:latin typeface="Calibri"/>
                        </a:rPr>
                        <a:t>AI-Assisted</a:t>
                      </a:r>
                    </a:p>
                  </a:txBody>
                  <a:tcPr marL="109728" marR="109728" marT="73152" marB="73152">
                    <a:solidFill>
                      <a:srgbClr val="0E7C86"/>
                    </a:solidFill>
                  </a:tcPr>
                </a:tc>
                <a:tc>
                  <a:txBody>
                    <a:bodyPr wrap="square" anchor="ctr" lIns="45720" rIns="45720" tIns="18288" bIns="18288"/>
                    <a:lstStyle/>
                    <a:p>
                      <a:pPr algn="l"/>
                      <a:r>
                        <a:rPr sz="2000" b="1">
                          <a:solidFill>
                            <a:srgbClr val="FFFFFF"/>
                          </a:solidFill>
                          <a:latin typeface="Calibri"/>
                        </a:rPr>
                        <a:t>AI-Native</a:t>
                      </a:r>
                    </a:p>
                  </a:txBody>
                  <a:tcPr marL="109728" marR="109728" marT="73152" marB="73152">
                    <a:solidFill>
                      <a:srgbClr val="0E7C86"/>
                    </a:solidFill>
                  </a:tcPr>
                </a:tc>
              </a:tr>
              <a:tr h="859536">
                <a:tc>
                  <a:txBody>
                    <a:bodyPr wrap="square" anchor="ctr" lIns="45720" rIns="45720" tIns="18288" bIns="18288"/>
                    <a:lstStyle/>
                    <a:p>
                      <a:pPr algn="l"/>
                      <a:r>
                        <a:rPr sz="1800" b="1">
                          <a:solidFill>
                            <a:srgbClr val="111111"/>
                          </a:solidFill>
                          <a:latin typeface="Calibri"/>
                        </a:rPr>
                        <a:t>Unit of work</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Ticket → code</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Ticket → code (faster)</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Spec → context → change → trace</a:t>
                      </a:r>
                    </a:p>
                  </a:txBody>
                  <a:tcPr marL="109728" marR="109728" marT="73152" marB="73152">
                    <a:solidFill>
                      <a:srgbClr val="F1F5F4"/>
                    </a:solidFill>
                  </a:tcPr>
                </a:tc>
              </a:tr>
              <a:tr h="859536">
                <a:tc>
                  <a:txBody>
                    <a:bodyPr wrap="square" anchor="ctr" lIns="45720" rIns="45720" tIns="18288" bIns="18288"/>
                    <a:lstStyle/>
                    <a:p>
                      <a:pPr algn="l"/>
                      <a:r>
                        <a:rPr sz="1800" b="1">
                          <a:solidFill>
                            <a:srgbClr val="111111"/>
                          </a:solidFill>
                          <a:latin typeface="Calibri"/>
                        </a:rPr>
                        <a:t>Who edits</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Human</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Human + suggestions</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Human and/or agent</a:t>
                      </a:r>
                    </a:p>
                  </a:txBody>
                  <a:tcPr marL="109728" marR="109728" marT="73152" marB="73152">
                    <a:solidFill>
                      <a:srgbClr val="FFFFFF"/>
                    </a:solidFill>
                  </a:tcPr>
                </a:tc>
              </a:tr>
              <a:tr h="859536">
                <a:tc>
                  <a:txBody>
                    <a:bodyPr wrap="square" anchor="ctr" lIns="45720" rIns="45720" tIns="18288" bIns="18288"/>
                    <a:lstStyle/>
                    <a:p>
                      <a:pPr algn="l"/>
                      <a:r>
                        <a:rPr sz="1800" b="1">
                          <a:solidFill>
                            <a:srgbClr val="111111"/>
                          </a:solidFill>
                          <a:latin typeface="Calibri"/>
                        </a:rPr>
                        <a:t>Artifacts</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Code, PR</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Code, PR</a:t>
                      </a:r>
                    </a:p>
                  </a:txBody>
                  <a:tcPr marL="109728" marR="109728" marT="73152" marB="73152">
                    <a:solidFill>
                      <a:srgbClr val="F1F5F4"/>
                    </a:solidFill>
                  </a:tcPr>
                </a:tc>
                <a:tc>
                  <a:txBody>
                    <a:bodyPr wrap="square" anchor="ctr" lIns="45720" rIns="45720" tIns="18288" bIns="18288"/>
                    <a:lstStyle/>
                    <a:p>
                      <a:pPr algn="l"/>
                      <a:r>
                        <a:rPr sz="1800" b="0">
                          <a:solidFill>
                            <a:srgbClr val="111111"/>
                          </a:solidFill>
                          <a:latin typeface="Calibri"/>
                        </a:rPr>
                        <a:t>Spec, context, trace, code, PR</a:t>
                      </a:r>
                    </a:p>
                  </a:txBody>
                  <a:tcPr marL="109728" marR="109728" marT="73152" marB="73152">
                    <a:solidFill>
                      <a:srgbClr val="F1F5F4"/>
                    </a:solidFill>
                  </a:tcPr>
                </a:tc>
              </a:tr>
              <a:tr h="859536">
                <a:tc>
                  <a:txBody>
                    <a:bodyPr wrap="square" anchor="ctr" lIns="45720" rIns="45720" tIns="18288" bIns="18288"/>
                    <a:lstStyle/>
                    <a:p>
                      <a:pPr algn="l"/>
                      <a:r>
                        <a:rPr sz="1800" b="1">
                          <a:solidFill>
                            <a:srgbClr val="111111"/>
                          </a:solidFill>
                          <a:latin typeface="Calibri"/>
                        </a:rPr>
                        <a:t>Governance</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Review, CI</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Review, CI</a:t>
                      </a:r>
                    </a:p>
                  </a:txBody>
                  <a:tcPr marL="109728" marR="109728" marT="73152" marB="73152">
                    <a:solidFill>
                      <a:srgbClr val="FFFFFF"/>
                    </a:solidFill>
                  </a:tcPr>
                </a:tc>
                <a:tc>
                  <a:txBody>
                    <a:bodyPr wrap="square" anchor="ctr" lIns="45720" rIns="45720" tIns="18288" bIns="18288"/>
                    <a:lstStyle/>
                    <a:p>
                      <a:pPr algn="l"/>
                      <a:r>
                        <a:rPr sz="1800" b="0">
                          <a:solidFill>
                            <a:srgbClr val="111111"/>
                          </a:solidFill>
                          <a:latin typeface="Calibri"/>
                        </a:rPr>
                        <a:t>+ spec review, agent permissions, eval gates</a:t>
                      </a:r>
                    </a:p>
                  </a:txBody>
                  <a:tcPr marL="109728" marR="109728" marT="73152" marB="73152">
                    <a:solidFill>
                      <a:srgbClr val="FFFFFF"/>
                    </a:solidFill>
                  </a:tcPr>
                </a:tc>
              </a:tr>
            </a:tbl>
          </a:graphicData>
        </a:graphic>
      </p:graphicFrame>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Defining AI-Native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92608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AI is a participant, not a tool</a:t>
            </a:r>
          </a:p>
          <a:p>
            <a:pPr algn="l">
              <a:lnSpc>
                <a:spcPct val="115000"/>
              </a:lnSpc>
              <a:spcAft>
                <a:spcPts val="1000"/>
              </a:spcAft>
            </a:pPr>
            <a:r>
              <a:rPr sz="2200" b="1">
                <a:solidFill>
                  <a:srgbClr val="0E7C86"/>
                </a:solidFill>
                <a:latin typeface="Calibri"/>
              </a:rPr>
              <a:t>■  </a:t>
            </a:r>
            <a:r>
              <a:rPr sz="2200" b="0">
                <a:solidFill>
                  <a:srgbClr val="111111"/>
                </a:solidFill>
                <a:latin typeface="Calibri"/>
              </a:rPr>
              <a:t>Designed for, not bolted on</a:t>
            </a:r>
          </a:p>
          <a:p>
            <a:pPr algn="l">
              <a:lnSpc>
                <a:spcPct val="115000"/>
              </a:lnSpc>
              <a:spcAft>
                <a:spcPts val="1000"/>
              </a:spcAft>
            </a:pPr>
            <a:r>
              <a:rPr sz="2200" b="1">
                <a:solidFill>
                  <a:srgbClr val="0E7C86"/>
                </a:solidFill>
                <a:latin typeface="Calibri"/>
              </a:rPr>
              <a:t>■  </a:t>
            </a:r>
            <a:r>
              <a:rPr sz="2200" b="0">
                <a:solidFill>
                  <a:srgbClr val="111111"/>
                </a:solidFill>
                <a:latin typeface="Calibri"/>
              </a:rPr>
              <a:t>Every action leaves a trail</a:t>
            </a:r>
          </a:p>
        </p:txBody>
      </p:sp>
      <p:sp>
        <p:nvSpPr>
          <p:cNvPr id="6" name="Rounded Rectangle 5" descr="Chip: Designing"/>
          <p:cNvSpPr/>
          <p:nvPr/>
        </p:nvSpPr>
        <p:spPr>
          <a:xfrm>
            <a:off x="548640" y="4937760"/>
            <a:ext cx="3291840" cy="594360"/>
          </a:xfrm>
          <a:prstGeom prst="roundRect">
            <a:avLst>
              <a:gd name="adj" fmla="val 5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Designing</a:t>
            </a:r>
          </a:p>
        </p:txBody>
      </p:sp>
      <p:sp>
        <p:nvSpPr>
          <p:cNvPr id="7" name="Rounded Rectangle 6" descr="Chip: Participating"/>
          <p:cNvSpPr/>
          <p:nvPr/>
        </p:nvSpPr>
        <p:spPr>
          <a:xfrm>
            <a:off x="4449927" y="4937760"/>
            <a:ext cx="3291840" cy="594360"/>
          </a:xfrm>
          <a:prstGeom prst="roundRect">
            <a:avLst>
              <a:gd name="adj" fmla="val 5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Participating</a:t>
            </a:r>
          </a:p>
        </p:txBody>
      </p:sp>
      <p:sp>
        <p:nvSpPr>
          <p:cNvPr id="8" name="Rounded Rectangle 7" descr="Chip: Accountable"/>
          <p:cNvSpPr/>
          <p:nvPr/>
        </p:nvSpPr>
        <p:spPr>
          <a:xfrm>
            <a:off x="8351215" y="4937760"/>
            <a:ext cx="3291840" cy="594360"/>
          </a:xfrm>
          <a:prstGeom prst="roundRect">
            <a:avLst>
              <a:gd name="adj" fmla="val 50000"/>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111111"/>
                </a:solidFill>
                <a:latin typeface="Calibri"/>
              </a:rPr>
              <a:t>Accountable</a:t>
            </a:r>
          </a:p>
        </p:txBody>
      </p:sp>
      <p:sp>
        <p:nvSpPr>
          <p:cNvPr id="9" name="TextBox 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10" name="TextBox 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The Six-Stage Loop</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descr="Loop stage: Intent"/>
          <p:cNvSpPr/>
          <p:nvPr/>
        </p:nvSpPr>
        <p:spPr>
          <a:xfrm>
            <a:off x="320040" y="2194560"/>
            <a:ext cx="1691640" cy="777240"/>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FFFFFF"/>
                </a:solidFill>
                <a:latin typeface="Calibri"/>
              </a:rPr>
              <a:t>Intent</a:t>
            </a:r>
          </a:p>
        </p:txBody>
      </p:sp>
      <p:sp>
        <p:nvSpPr>
          <p:cNvPr id="6" name="Rounded Rectangle 5" descr="Loop stage: Spec"/>
          <p:cNvSpPr/>
          <p:nvPr/>
        </p:nvSpPr>
        <p:spPr>
          <a:xfrm>
            <a:off x="2292035" y="2194560"/>
            <a:ext cx="1691640" cy="777240"/>
          </a:xfrm>
          <a:prstGeom prst="roundRect">
            <a:avLst>
              <a:gd name="adj" fmla="val 3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FFFFFF"/>
                </a:solidFill>
                <a:latin typeface="Calibri"/>
              </a:rPr>
              <a:t>Spec</a:t>
            </a:r>
          </a:p>
        </p:txBody>
      </p:sp>
      <p:sp>
        <p:nvSpPr>
          <p:cNvPr id="7" name="Rounded Rectangle 6" descr="Loop stage: Context"/>
          <p:cNvSpPr/>
          <p:nvPr/>
        </p:nvSpPr>
        <p:spPr>
          <a:xfrm>
            <a:off x="4264030" y="2194560"/>
            <a:ext cx="1691640" cy="777240"/>
          </a:xfrm>
          <a:prstGeom prst="roundRect">
            <a:avLst>
              <a:gd name="adj" fmla="val 3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FFFFFF"/>
                </a:solidFill>
                <a:latin typeface="Calibri"/>
              </a:rPr>
              <a:t>Context</a:t>
            </a:r>
          </a:p>
        </p:txBody>
      </p:sp>
      <p:sp>
        <p:nvSpPr>
          <p:cNvPr id="8" name="Rounded Rectangle 7" descr="Loop stage: Change"/>
          <p:cNvSpPr/>
          <p:nvPr/>
        </p:nvSpPr>
        <p:spPr>
          <a:xfrm>
            <a:off x="6236025" y="2194560"/>
            <a:ext cx="1691640" cy="777240"/>
          </a:xfrm>
          <a:prstGeom prst="roundRect">
            <a:avLst>
              <a:gd name="adj" fmla="val 3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FFFFFF"/>
                </a:solidFill>
                <a:latin typeface="Calibri"/>
              </a:rPr>
              <a:t>Change</a:t>
            </a:r>
          </a:p>
        </p:txBody>
      </p:sp>
      <p:sp>
        <p:nvSpPr>
          <p:cNvPr id="9" name="Rounded Rectangle 8" descr="Loop stage: Verification"/>
          <p:cNvSpPr/>
          <p:nvPr/>
        </p:nvSpPr>
        <p:spPr>
          <a:xfrm>
            <a:off x="8208020" y="2194560"/>
            <a:ext cx="1691640" cy="777240"/>
          </a:xfrm>
          <a:prstGeom prst="roundRect">
            <a:avLst>
              <a:gd name="adj" fmla="val 30000"/>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111111"/>
                </a:solidFill>
                <a:latin typeface="Calibri"/>
              </a:rPr>
              <a:t>Verification</a:t>
            </a:r>
          </a:p>
        </p:txBody>
      </p:sp>
      <p:sp>
        <p:nvSpPr>
          <p:cNvPr id="10" name="Rounded Rectangle 9" descr="Loop stage: Delivery"/>
          <p:cNvSpPr/>
          <p:nvPr/>
        </p:nvSpPr>
        <p:spPr>
          <a:xfrm>
            <a:off x="10180015" y="2194560"/>
            <a:ext cx="1691640" cy="777240"/>
          </a:xfrm>
          <a:prstGeom prst="roundRect">
            <a:avLst>
              <a:gd name="adj" fmla="val 30000"/>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18288" bIns="18288"/>
          <a:lstStyle/>
          <a:p>
            <a:pPr algn="ctr"/>
            <a:r>
              <a:rPr sz="1800" b="1">
                <a:solidFill>
                  <a:srgbClr val="111111"/>
                </a:solidFill>
                <a:latin typeface="Calibri"/>
              </a:rPr>
              <a:t>Delivery</a:t>
            </a:r>
          </a:p>
        </p:txBody>
      </p:sp>
      <p:sp>
        <p:nvSpPr>
          <p:cNvPr id="11" name="Right Arrow 10" descr="Decorative arrow"/>
          <p:cNvSpPr/>
          <p:nvPr/>
        </p:nvSpPr>
        <p:spPr>
          <a:xfrm>
            <a:off x="2005553" y="2436876"/>
            <a:ext cx="292608" cy="292608"/>
          </a:xfrm>
          <a:prstGeom prst="rightArrow">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descr="Decorative arrow"/>
          <p:cNvSpPr/>
          <p:nvPr/>
        </p:nvSpPr>
        <p:spPr>
          <a:xfrm>
            <a:off x="3977548" y="2436876"/>
            <a:ext cx="292608" cy="292608"/>
          </a:xfrm>
          <a:prstGeom prst="rightArrow">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descr="Decorative arrow"/>
          <p:cNvSpPr/>
          <p:nvPr/>
        </p:nvSpPr>
        <p:spPr>
          <a:xfrm>
            <a:off x="5949543" y="2436876"/>
            <a:ext cx="292608" cy="292608"/>
          </a:xfrm>
          <a:prstGeom prst="rightArrow">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descr="Decorative arrow"/>
          <p:cNvSpPr/>
          <p:nvPr/>
        </p:nvSpPr>
        <p:spPr>
          <a:xfrm>
            <a:off x="7921538" y="2436876"/>
            <a:ext cx="292608" cy="292608"/>
          </a:xfrm>
          <a:prstGeom prst="rightArrow">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descr="Decorative arrow"/>
          <p:cNvSpPr/>
          <p:nvPr/>
        </p:nvSpPr>
        <p:spPr>
          <a:xfrm>
            <a:off x="9893533" y="2436876"/>
            <a:ext cx="292608" cy="292608"/>
          </a:xfrm>
          <a:prstGeom prst="rightArrow">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descr="Feedback path from Delivery to Spec"/>
          <p:cNvSpPr/>
          <p:nvPr/>
        </p:nvSpPr>
        <p:spPr>
          <a:xfrm>
            <a:off x="3137855" y="3429000"/>
            <a:ext cx="7887980" cy="36576"/>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descr="Decorative"/>
          <p:cNvSpPr/>
          <p:nvPr/>
        </p:nvSpPr>
        <p:spPr>
          <a:xfrm>
            <a:off x="11007547" y="2971800"/>
            <a:ext cx="36576" cy="493776"/>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Up Arrow 17" descr="Feedback arrow into Spec"/>
          <p:cNvSpPr/>
          <p:nvPr/>
        </p:nvSpPr>
        <p:spPr>
          <a:xfrm>
            <a:off x="2977835" y="3054096"/>
            <a:ext cx="320040" cy="411480"/>
          </a:xfrm>
          <a:prstGeom prst="upArrow">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520440"/>
            <a:ext cx="11094415" cy="457200"/>
          </a:xfrm>
          <a:prstGeom prst="rect">
            <a:avLst/>
          </a:prstGeom>
          <a:noFill/>
        </p:spPr>
        <p:txBody>
          <a:bodyPr wrap="square" anchor="t" lIns="45720" rIns="45720" tIns="18288" bIns="18288">
            <a:spAutoFit/>
          </a:bodyPr>
          <a:lstStyle/>
          <a:p>
            <a:pPr algn="ctr"/>
            <a:r>
              <a:rPr sz="1800" b="0">
                <a:solidFill>
                  <a:srgbClr val="4A4A4A"/>
                </a:solidFill>
                <a:latin typeface="Calibri"/>
              </a:rPr>
              <a:t>production signals feed back into the spec</a:t>
            </a:r>
          </a:p>
        </p:txBody>
      </p:sp>
      <p:sp>
        <p:nvSpPr>
          <p:cNvPr id="20" name="TextBox 19"/>
          <p:cNvSpPr txBox="1"/>
          <p:nvPr/>
        </p:nvSpPr>
        <p:spPr>
          <a:xfrm>
            <a:off x="548640" y="5029200"/>
            <a:ext cx="5364327" cy="548640"/>
          </a:xfrm>
          <a:prstGeom prst="rect">
            <a:avLst/>
          </a:prstGeom>
          <a:noFill/>
        </p:spPr>
        <p:txBody>
          <a:bodyPr wrap="square" anchor="ctr" lIns="45720" rIns="45720" tIns="18288" bIns="18288">
            <a:spAutoFit/>
          </a:bodyPr>
          <a:lstStyle/>
          <a:p>
            <a:pPr algn="ctr"/>
            <a:r>
              <a:rPr sz="2400" b="1">
                <a:solidFill>
                  <a:srgbClr val="0E7C86"/>
                </a:solidFill>
                <a:latin typeface="Calibri"/>
              </a:rPr>
              <a:t>New artifact: spec</a:t>
            </a:r>
          </a:p>
        </p:txBody>
      </p:sp>
      <p:sp>
        <p:nvSpPr>
          <p:cNvPr id="21" name="TextBox 20"/>
          <p:cNvSpPr txBox="1"/>
          <p:nvPr/>
        </p:nvSpPr>
        <p:spPr>
          <a:xfrm>
            <a:off x="6278727" y="5029200"/>
            <a:ext cx="5364327" cy="548640"/>
          </a:xfrm>
          <a:prstGeom prst="rect">
            <a:avLst/>
          </a:prstGeom>
          <a:noFill/>
        </p:spPr>
        <p:txBody>
          <a:bodyPr wrap="square" anchor="ctr" lIns="45720" rIns="45720" tIns="18288" bIns="18288">
            <a:spAutoFit/>
          </a:bodyPr>
          <a:lstStyle/>
          <a:p>
            <a:pPr algn="ctr"/>
            <a:r>
              <a:rPr sz="2400" b="1">
                <a:solidFill>
                  <a:srgbClr val="5E8A00"/>
                </a:solidFill>
                <a:latin typeface="Calibri"/>
              </a:rPr>
              <a:t>New arrow: feedback to spec</a:t>
            </a:r>
          </a:p>
        </p:txBody>
      </p:sp>
      <p:sp>
        <p:nvSpPr>
          <p:cNvPr id="22" name="TextBox 21"/>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23" name="TextBox 22"/>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Cloud-Native Gave Us the Substrate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Cloud-native = the substrate</a:t>
            </a:r>
          </a:p>
          <a:p>
            <a:pPr algn="l">
              <a:lnSpc>
                <a:spcPct val="115000"/>
              </a:lnSpc>
              <a:spcAft>
                <a:spcPts val="1000"/>
              </a:spcAft>
            </a:pPr>
            <a:r>
              <a:rPr sz="2200" b="1">
                <a:solidFill>
                  <a:srgbClr val="0E7C86"/>
                </a:solidFill>
                <a:latin typeface="Calibri"/>
              </a:rPr>
              <a:t>■  </a:t>
            </a:r>
            <a:r>
              <a:rPr sz="2200" b="0">
                <a:solidFill>
                  <a:srgbClr val="111111"/>
                </a:solidFill>
                <a:latin typeface="Calibri"/>
              </a:rPr>
              <a:t>Ephemeral envs, GitOps, observability, zero-trust</a:t>
            </a:r>
          </a:p>
          <a:p>
            <a:pPr algn="l">
              <a:lnSpc>
                <a:spcPct val="115000"/>
              </a:lnSpc>
              <a:spcAft>
                <a:spcPts val="1000"/>
              </a:spcAft>
            </a:pPr>
            <a:r>
              <a:rPr sz="2200" b="1">
                <a:solidFill>
                  <a:srgbClr val="0E7C86"/>
                </a:solidFill>
                <a:latin typeface="Calibri"/>
              </a:rPr>
              <a:t>■  </a:t>
            </a:r>
            <a:r>
              <a:rPr sz="2200" b="0">
                <a:solidFill>
                  <a:srgbClr val="111111"/>
                </a:solidFill>
                <a:latin typeface="Calibri"/>
              </a:rPr>
              <a:t>AI-native depends on cloud-native maturity</a:t>
            </a:r>
          </a:p>
          <a:p>
            <a:pPr algn="l">
              <a:lnSpc>
                <a:spcPct val="115000"/>
              </a:lnSpc>
              <a:spcAft>
                <a:spcPts val="1000"/>
              </a:spcAft>
            </a:pPr>
            <a:r>
              <a:rPr sz="2200" b="1">
                <a:solidFill>
                  <a:srgbClr val="0E7C86"/>
                </a:solidFill>
                <a:latin typeface="Calibri"/>
              </a:rPr>
              <a:t>■  </a:t>
            </a:r>
            <a:r>
              <a:rPr sz="2200" b="0">
                <a:solidFill>
                  <a:srgbClr val="111111"/>
                </a:solidFill>
                <a:latin typeface="Calibri"/>
              </a:rPr>
              <a:t>No shortcut: weak substrate, weak agents</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Spec-Driven Development</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37744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Spec is the durable artifact</a:t>
            </a:r>
          </a:p>
          <a:p>
            <a:pPr algn="l">
              <a:lnSpc>
                <a:spcPct val="115000"/>
              </a:lnSpc>
              <a:spcAft>
                <a:spcPts val="1000"/>
              </a:spcAft>
            </a:pPr>
            <a:r>
              <a:rPr sz="2200" b="1">
                <a:solidFill>
                  <a:srgbClr val="0E7C86"/>
                </a:solidFill>
                <a:latin typeface="Calibri"/>
              </a:rPr>
              <a:t>■  </a:t>
            </a:r>
            <a:r>
              <a:rPr sz="2200" b="0">
                <a:solidFill>
                  <a:srgbClr val="111111"/>
                </a:solidFill>
                <a:latin typeface="Calibri"/>
              </a:rPr>
              <a:t>Five lines beats fifty pages</a:t>
            </a:r>
          </a:p>
          <a:p>
            <a:pPr algn="l">
              <a:lnSpc>
                <a:spcPct val="115000"/>
              </a:lnSpc>
              <a:spcAft>
                <a:spcPts val="1000"/>
              </a:spcAft>
            </a:pPr>
            <a:r>
              <a:rPr sz="2200" b="1">
                <a:solidFill>
                  <a:srgbClr val="0E7C86"/>
                </a:solidFill>
                <a:latin typeface="Calibri"/>
              </a:rPr>
              <a:t>■  </a:t>
            </a:r>
            <a:r>
              <a:rPr sz="2200" b="0">
                <a:solidFill>
                  <a:srgbClr val="111111"/>
                </a:solidFill>
                <a:latin typeface="Calibri"/>
              </a:rPr>
              <a:t>Cheaper to argue about a spec than a diff</a:t>
            </a:r>
          </a:p>
        </p:txBody>
      </p:sp>
      <p:sp>
        <p:nvSpPr>
          <p:cNvPr id="6" name="Rounded Rectangle 5" descr="Chip: Why"/>
          <p:cNvSpPr/>
          <p:nvPr/>
        </p:nvSpPr>
        <p:spPr>
          <a:xfrm>
            <a:off x="548640" y="4572000"/>
            <a:ext cx="2606040" cy="594360"/>
          </a:xfrm>
          <a:prstGeom prst="roundRect">
            <a:avLst>
              <a:gd name="adj" fmla="val 5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Why</a:t>
            </a:r>
          </a:p>
        </p:txBody>
      </p:sp>
      <p:sp>
        <p:nvSpPr>
          <p:cNvPr id="7" name="Rounded Rectangle 6" descr="Chip: What changes"/>
          <p:cNvSpPr/>
          <p:nvPr/>
        </p:nvSpPr>
        <p:spPr>
          <a:xfrm>
            <a:off x="3378098" y="4572000"/>
            <a:ext cx="2606040" cy="594360"/>
          </a:xfrm>
          <a:prstGeom prst="roundRect">
            <a:avLst>
              <a:gd name="adj" fmla="val 5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What changes</a:t>
            </a:r>
          </a:p>
        </p:txBody>
      </p:sp>
      <p:sp>
        <p:nvSpPr>
          <p:cNvPr id="8" name="Rounded Rectangle 7" descr="Chip: Success criteria"/>
          <p:cNvSpPr/>
          <p:nvPr/>
        </p:nvSpPr>
        <p:spPr>
          <a:xfrm>
            <a:off x="6207556" y="4572000"/>
            <a:ext cx="2606040" cy="594360"/>
          </a:xfrm>
          <a:prstGeom prst="roundRect">
            <a:avLst>
              <a:gd name="adj" fmla="val 5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Success criteria</a:t>
            </a:r>
          </a:p>
        </p:txBody>
      </p:sp>
      <p:sp>
        <p:nvSpPr>
          <p:cNvPr id="9" name="Rounded Rectangle 8" descr="Chip: Out of scope"/>
          <p:cNvSpPr/>
          <p:nvPr/>
        </p:nvSpPr>
        <p:spPr>
          <a:xfrm>
            <a:off x="9037015" y="4572000"/>
            <a:ext cx="2606040" cy="594360"/>
          </a:xfrm>
          <a:prstGeom prst="roundRect">
            <a:avLst>
              <a:gd name="adj" fmla="val 50000"/>
            </a:avLst>
          </a:prstGeom>
          <a:solidFill>
            <a:srgbClr val="5C7F5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FFFFFF"/>
                </a:solidFill>
                <a:latin typeface="Calibri"/>
              </a:rPr>
              <a:t>Out of scope</a:t>
            </a:r>
          </a:p>
        </p:txBody>
      </p:sp>
      <p:sp>
        <p:nvSpPr>
          <p:cNvPr id="10" name="TextBox 9"/>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11" name="TextBox 10"/>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Context Engineering</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3474720"/>
          </a:xfrm>
          <a:prstGeom prst="rect">
            <a:avLst/>
          </a:prstGeom>
          <a:noFill/>
        </p:spPr>
        <p:txBody>
          <a:bodyPr wrap="square">
            <a:spAutoFit/>
          </a:bodyPr>
          <a:lstStyle/>
          <a:p>
            <a:pPr algn="l">
              <a:lnSpc>
                <a:spcPct val="120000"/>
              </a:lnSpc>
              <a:spcAft>
                <a:spcPts val="1400"/>
              </a:spcAft>
            </a:pPr>
            <a:r>
              <a:rPr sz="2400" b="1">
                <a:solidFill>
                  <a:srgbClr val="0E7C86"/>
                </a:solidFill>
                <a:latin typeface="Calibri"/>
              </a:rPr>
              <a:t>■  </a:t>
            </a:r>
            <a:r>
              <a:rPr sz="2400" b="1">
                <a:solidFill>
                  <a:srgbClr val="0E7C86"/>
                </a:solidFill>
                <a:latin typeface="Calibri"/>
              </a:rPr>
              <a:t>AGENTS.md — </a:t>
            </a:r>
            <a:r>
              <a:rPr sz="2400" b="0">
                <a:solidFill>
                  <a:srgbClr val="111111"/>
                </a:solidFill>
                <a:latin typeface="Calibri"/>
              </a:rPr>
              <a:t>how this repo prefers to be edited</a:t>
            </a:r>
          </a:p>
          <a:p>
            <a:pPr algn="l">
              <a:lnSpc>
                <a:spcPct val="120000"/>
              </a:lnSpc>
              <a:spcAft>
                <a:spcPts val="1400"/>
              </a:spcAft>
            </a:pPr>
            <a:r>
              <a:rPr sz="2400" b="1">
                <a:solidFill>
                  <a:srgbClr val="0E7C86"/>
                </a:solidFill>
                <a:latin typeface="Calibri"/>
              </a:rPr>
              <a:t>■  </a:t>
            </a:r>
            <a:r>
              <a:rPr sz="2400" b="1">
                <a:solidFill>
                  <a:srgbClr val="0E7C86"/>
                </a:solidFill>
                <a:latin typeface="Calibri"/>
              </a:rPr>
              <a:t>MCP servers — </a:t>
            </a:r>
            <a:r>
              <a:rPr sz="2400" b="0">
                <a:solidFill>
                  <a:srgbClr val="111111"/>
                </a:solidFill>
                <a:latin typeface="Calibri"/>
              </a:rPr>
              <a:t>wiki, observability, internal APIs as tools</a:t>
            </a:r>
          </a:p>
          <a:p>
            <a:pPr algn="l">
              <a:lnSpc>
                <a:spcPct val="120000"/>
              </a:lnSpc>
              <a:spcAft>
                <a:spcPts val="1400"/>
              </a:spcAft>
            </a:pPr>
            <a:r>
              <a:rPr sz="2400" b="1">
                <a:solidFill>
                  <a:srgbClr val="0E7C86"/>
                </a:solidFill>
                <a:latin typeface="Calibri"/>
              </a:rPr>
              <a:t>■  </a:t>
            </a:r>
            <a:r>
              <a:rPr sz="2400" b="1">
                <a:solidFill>
                  <a:srgbClr val="0E7C86"/>
                </a:solidFill>
                <a:latin typeface="Calibri"/>
              </a:rPr>
              <a:t>Per-task context packets — </a:t>
            </a:r>
            <a:r>
              <a:rPr sz="2400" b="0">
                <a:solidFill>
                  <a:srgbClr val="111111"/>
                </a:solidFill>
                <a:latin typeface="Calibri"/>
              </a:rPr>
              <a:t>for non-trivial work</a:t>
            </a:r>
          </a:p>
        </p:txBody>
      </p:sp>
      <p:sp>
        <p:nvSpPr>
          <p:cNvPr id="6" name="Rectangle 5" descr="Decorative accent bar"/>
          <p:cNvSpPr/>
          <p:nvPr/>
        </p:nvSpPr>
        <p:spPr>
          <a:xfrm>
            <a:off x="548640" y="5120640"/>
            <a:ext cx="76200" cy="914400"/>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120640"/>
            <a:ext cx="10865815" cy="914400"/>
          </a:xfrm>
          <a:prstGeom prst="rect">
            <a:avLst/>
          </a:prstGeom>
          <a:noFill/>
        </p:spPr>
        <p:txBody>
          <a:bodyPr wrap="square" anchor="ctr" lIns="45720" rIns="45720" tIns="18288" bIns="18288">
            <a:spAutoFit/>
          </a:bodyPr>
          <a:lstStyle/>
          <a:p>
            <a:pPr algn="l"/>
            <a:r>
              <a:rPr sz="2800" b="1">
                <a:solidFill>
                  <a:srgbClr val="111111"/>
                </a:solidFill>
                <a:latin typeface="Calibri"/>
              </a:rPr>
              <a:t>Bad output is usually context starvation.</a:t>
            </a:r>
          </a:p>
        </p:txBody>
      </p:sp>
      <p:sp>
        <p:nvSpPr>
          <p:cNvPr id="8" name="TextBox 7"/>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9" name="TextBox 8"/>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Humans + Agents</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descr="Decorative accent bar"/>
          <p:cNvSpPr/>
          <p:nvPr/>
        </p:nvSpPr>
        <p:spPr>
          <a:xfrm>
            <a:off x="548640" y="1828800"/>
            <a:ext cx="101600" cy="12801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3108960" cy="502920"/>
          </a:xfrm>
          <a:prstGeom prst="rect">
            <a:avLst/>
          </a:prstGeom>
          <a:noFill/>
        </p:spPr>
        <p:txBody>
          <a:bodyPr wrap="square" anchor="t" lIns="45720" rIns="45720" tIns="18288" bIns="18288">
            <a:spAutoFit/>
          </a:bodyPr>
          <a:lstStyle/>
          <a:p>
            <a:pPr algn="l"/>
            <a:r>
              <a:rPr sz="2200" b="1">
                <a:solidFill>
                  <a:srgbClr val="0E7C86"/>
                </a:solidFill>
                <a:latin typeface="Calibri"/>
              </a:rPr>
              <a:t>Wrong race</a:t>
            </a:r>
          </a:p>
        </p:txBody>
      </p:sp>
      <p:sp>
        <p:nvSpPr>
          <p:cNvPr id="7" name="TextBox 6"/>
          <p:cNvSpPr txBox="1"/>
          <p:nvPr/>
        </p:nvSpPr>
        <p:spPr>
          <a:xfrm>
            <a:off x="822960" y="2331720"/>
            <a:ext cx="10820095" cy="777240"/>
          </a:xfrm>
          <a:prstGeom prst="rect">
            <a:avLst/>
          </a:prstGeom>
          <a:noFill/>
        </p:spPr>
        <p:txBody>
          <a:bodyPr wrap="square" anchor="t" lIns="45720" rIns="45720" tIns="18288" bIns="18288">
            <a:spAutoFit/>
          </a:bodyPr>
          <a:lstStyle/>
          <a:p>
            <a:pPr algn="l"/>
            <a:r>
              <a:rPr sz="2200" b="0">
                <a:solidFill>
                  <a:srgbClr val="111111"/>
                </a:solidFill>
                <a:latin typeface="Calibri"/>
              </a:rPr>
              <a:t>Cut headcount to do yesterday's work faster.</a:t>
            </a:r>
          </a:p>
        </p:txBody>
      </p:sp>
      <p:sp>
        <p:nvSpPr>
          <p:cNvPr id="8" name="Rectangle 7" descr="Decorative accent bar"/>
          <p:cNvSpPr/>
          <p:nvPr/>
        </p:nvSpPr>
        <p:spPr>
          <a:xfrm>
            <a:off x="548640" y="3337560"/>
            <a:ext cx="101600" cy="1280160"/>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337560"/>
            <a:ext cx="3108960" cy="502920"/>
          </a:xfrm>
          <a:prstGeom prst="rect">
            <a:avLst/>
          </a:prstGeom>
          <a:noFill/>
        </p:spPr>
        <p:txBody>
          <a:bodyPr wrap="square" anchor="t" lIns="45720" rIns="45720" tIns="18288" bIns="18288">
            <a:spAutoFit/>
          </a:bodyPr>
          <a:lstStyle/>
          <a:p>
            <a:pPr algn="l"/>
            <a:r>
              <a:rPr sz="2200" b="1">
                <a:solidFill>
                  <a:srgbClr val="5E8A00"/>
                </a:solidFill>
                <a:latin typeface="Calibri"/>
              </a:rPr>
              <a:t>Right race</a:t>
            </a:r>
          </a:p>
        </p:txBody>
      </p:sp>
      <p:sp>
        <p:nvSpPr>
          <p:cNvPr id="10" name="TextBox 9"/>
          <p:cNvSpPr txBox="1"/>
          <p:nvPr/>
        </p:nvSpPr>
        <p:spPr>
          <a:xfrm>
            <a:off x="822960" y="3840480"/>
            <a:ext cx="10820095" cy="777240"/>
          </a:xfrm>
          <a:prstGeom prst="rect">
            <a:avLst/>
          </a:prstGeom>
          <a:noFill/>
        </p:spPr>
        <p:txBody>
          <a:bodyPr wrap="square" anchor="t" lIns="45720" rIns="45720" tIns="18288" bIns="18288">
            <a:spAutoFit/>
          </a:bodyPr>
          <a:lstStyle/>
          <a:p>
            <a:pPr algn="l"/>
            <a:r>
              <a:rPr sz="2200" b="0">
                <a:solidFill>
                  <a:srgbClr val="111111"/>
                </a:solidFill>
                <a:latin typeface="Calibri"/>
              </a:rPr>
              <a:t>Expand ambition. Orchestrate fleets of agents.</a:t>
            </a:r>
          </a:p>
        </p:txBody>
      </p:sp>
      <p:sp>
        <p:nvSpPr>
          <p:cNvPr id="11" name="TextBox 10"/>
          <p:cNvSpPr txBox="1"/>
          <p:nvPr/>
        </p:nvSpPr>
        <p:spPr>
          <a:xfrm>
            <a:off x="548640" y="5212080"/>
            <a:ext cx="11094415" cy="548640"/>
          </a:xfrm>
          <a:prstGeom prst="rect">
            <a:avLst/>
          </a:prstGeom>
          <a:noFill/>
        </p:spPr>
        <p:txBody>
          <a:bodyPr wrap="square" anchor="t" lIns="45720" rIns="45720" tIns="18288" bIns="18288">
            <a:spAutoFit/>
          </a:bodyPr>
          <a:lstStyle/>
          <a:p>
            <a:pPr algn="l"/>
            <a:r>
              <a:rPr sz="2200" b="1">
                <a:solidFill>
                  <a:srgbClr val="4A4A4A"/>
                </a:solidFill>
                <a:latin typeface="Calibri"/>
              </a:rPr>
              <a:t>New roles: specifier, context curator, reviewer of intent.</a:t>
            </a:r>
          </a:p>
        </p:txBody>
      </p:sp>
      <p:sp>
        <p:nvSpPr>
          <p:cNvPr id="12" name="TextBox 11"/>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13" name="TextBox 12"/>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Reliability at Scale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No invisible work: trace every run</a:t>
            </a:r>
          </a:p>
          <a:p>
            <a:pPr algn="l">
              <a:lnSpc>
                <a:spcPct val="115000"/>
              </a:lnSpc>
              <a:spcAft>
                <a:spcPts val="1000"/>
              </a:spcAft>
            </a:pPr>
            <a:r>
              <a:rPr sz="2200" b="1">
                <a:solidFill>
                  <a:srgbClr val="0E7C86"/>
                </a:solidFill>
                <a:latin typeface="Calibri"/>
              </a:rPr>
              <a:t>■  </a:t>
            </a:r>
            <a:r>
              <a:rPr sz="2200" b="0">
                <a:solidFill>
                  <a:srgbClr val="111111"/>
                </a:solidFill>
                <a:latin typeface="Calibri"/>
              </a:rPr>
              <a:t>Layered verification: tests → evaluators → policy → human</a:t>
            </a:r>
          </a:p>
          <a:p>
            <a:pPr algn="l">
              <a:lnSpc>
                <a:spcPct val="115000"/>
              </a:lnSpc>
              <a:spcAft>
                <a:spcPts val="1000"/>
              </a:spcAft>
            </a:pPr>
            <a:r>
              <a:rPr sz="2200" b="1">
                <a:solidFill>
                  <a:srgbClr val="0E7C86"/>
                </a:solidFill>
                <a:latin typeface="Calibri"/>
              </a:rPr>
              <a:t>■  </a:t>
            </a:r>
            <a:r>
              <a:rPr sz="2200" b="0">
                <a:solidFill>
                  <a:srgbClr val="111111"/>
                </a:solidFill>
                <a:latin typeface="Calibri"/>
              </a:rPr>
              <a:t>Sample 1 in 10 agent PRs for deep review</a:t>
            </a:r>
          </a:p>
          <a:p>
            <a:pPr algn="l">
              <a:lnSpc>
                <a:spcPct val="115000"/>
              </a:lnSpc>
              <a:spcAft>
                <a:spcPts val="1000"/>
              </a:spcAft>
            </a:pPr>
            <a:r>
              <a:rPr sz="2200" b="1">
                <a:solidFill>
                  <a:srgbClr val="0E7C86"/>
                </a:solidFill>
                <a:latin typeface="Calibri"/>
              </a:rPr>
              <a:t>■  </a:t>
            </a:r>
            <a:r>
              <a:rPr sz="2200" b="0">
                <a:solidFill>
                  <a:srgbClr val="111111"/>
                </a:solidFill>
                <a:latin typeface="Calibri"/>
              </a:rPr>
              <a:t>Trust calibration is a discipline, not a feeling</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Security at Scale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74320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Agents are a new identity class</a:t>
            </a:r>
          </a:p>
          <a:p>
            <a:pPr algn="l">
              <a:lnSpc>
                <a:spcPct val="115000"/>
              </a:lnSpc>
              <a:spcAft>
                <a:spcPts val="1000"/>
              </a:spcAft>
            </a:pPr>
            <a:r>
              <a:rPr sz="2200" b="1">
                <a:solidFill>
                  <a:srgbClr val="0E7C86"/>
                </a:solidFill>
                <a:latin typeface="Calibri"/>
              </a:rPr>
              <a:t>■  </a:t>
            </a:r>
            <a:r>
              <a:rPr sz="2200" b="0">
                <a:solidFill>
                  <a:srgbClr val="111111"/>
                </a:solidFill>
                <a:latin typeface="Calibri"/>
              </a:rPr>
              <a:t>Scope: branches, MCP tools, secrets, environments</a:t>
            </a:r>
          </a:p>
          <a:p>
            <a:pPr algn="l">
              <a:lnSpc>
                <a:spcPct val="115000"/>
              </a:lnSpc>
              <a:spcAft>
                <a:spcPts val="1000"/>
              </a:spcAft>
            </a:pPr>
            <a:r>
              <a:rPr sz="2200" b="1">
                <a:solidFill>
                  <a:srgbClr val="0E7C86"/>
                </a:solidFill>
                <a:latin typeface="Calibri"/>
              </a:rPr>
              <a:t>■  </a:t>
            </a:r>
            <a:r>
              <a:rPr sz="2200" b="0">
                <a:solidFill>
                  <a:srgbClr val="111111"/>
                </a:solidFill>
                <a:latin typeface="Calibri"/>
              </a:rPr>
              <a:t>Least privilege, validated outputs, human gates on impact</a:t>
            </a:r>
          </a:p>
        </p:txBody>
      </p:sp>
      <p:sp>
        <p:nvSpPr>
          <p:cNvPr id="6" name="Rectangle 5" descr="Decorative accent bar"/>
          <p:cNvSpPr/>
          <p:nvPr/>
        </p:nvSpPr>
        <p:spPr>
          <a:xfrm>
            <a:off x="548640" y="4937760"/>
            <a:ext cx="76200" cy="1097280"/>
          </a:xfrm>
          <a:prstGeom prst="rect">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937760"/>
            <a:ext cx="10865815" cy="1097280"/>
          </a:xfrm>
          <a:prstGeom prst="rect">
            <a:avLst/>
          </a:prstGeom>
          <a:noFill/>
        </p:spPr>
        <p:txBody>
          <a:bodyPr wrap="square" anchor="ctr" lIns="45720" rIns="45720" tIns="18288" bIns="18288">
            <a:spAutoFit/>
          </a:bodyPr>
          <a:lstStyle/>
          <a:p>
            <a:pPr algn="l"/>
            <a:r>
              <a:rPr sz="2800" b="1">
                <a:solidFill>
                  <a:srgbClr val="111111"/>
                </a:solidFill>
                <a:latin typeface="Calibri"/>
              </a:rPr>
              <a:t>Prompt injection is the new SQL injection.</a:t>
            </a:r>
          </a:p>
        </p:txBody>
      </p:sp>
      <p:sp>
        <p:nvSpPr>
          <p:cNvPr id="8" name="TextBox 7"/>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9" name="TextBox 8"/>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Governance at Scale</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11094415" cy="420624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AGENTS.md is a reviewed artifact</a:t>
            </a:r>
          </a:p>
          <a:p>
            <a:pPr algn="l">
              <a:lnSpc>
                <a:spcPct val="115000"/>
              </a:lnSpc>
              <a:spcAft>
                <a:spcPts val="1000"/>
              </a:spcAft>
            </a:pPr>
            <a:r>
              <a:rPr sz="2200" b="1">
                <a:solidFill>
                  <a:srgbClr val="0E7C86"/>
                </a:solidFill>
                <a:latin typeface="Calibri"/>
              </a:rPr>
              <a:t>■  </a:t>
            </a:r>
            <a:r>
              <a:rPr sz="2200" b="0">
                <a:solidFill>
                  <a:srgbClr val="111111"/>
                </a:solidFill>
                <a:latin typeface="Calibri"/>
              </a:rPr>
              <a:t>Preserve run traces: model, tools, files, spec</a:t>
            </a:r>
          </a:p>
          <a:p>
            <a:pPr algn="l">
              <a:lnSpc>
                <a:spcPct val="115000"/>
              </a:lnSpc>
              <a:spcAft>
                <a:spcPts val="1000"/>
              </a:spcAft>
            </a:pPr>
            <a:r>
              <a:rPr sz="2200" b="1">
                <a:solidFill>
                  <a:srgbClr val="0E7C86"/>
                </a:solidFill>
                <a:latin typeface="Calibri"/>
              </a:rPr>
              <a:t>■  </a:t>
            </a:r>
            <a:r>
              <a:rPr sz="2200" b="0">
                <a:solidFill>
                  <a:srgbClr val="111111"/>
                </a:solidFill>
                <a:latin typeface="Calibri"/>
              </a:rPr>
              <a:t>Auditors will ask. Make the answer a link.</a:t>
            </a:r>
          </a:p>
          <a:p>
            <a:pPr algn="l">
              <a:lnSpc>
                <a:spcPct val="115000"/>
              </a:lnSpc>
              <a:spcAft>
                <a:spcPts val="1000"/>
              </a:spcAft>
            </a:pPr>
            <a:r>
              <a:rPr sz="2200" b="1">
                <a:solidFill>
                  <a:srgbClr val="0E7C86"/>
                </a:solidFill>
                <a:latin typeface="Calibri"/>
              </a:rPr>
              <a:t>■  </a:t>
            </a:r>
            <a:r>
              <a:rPr sz="2200" b="0">
                <a:solidFill>
                  <a:srgbClr val="111111"/>
                </a:solidFill>
                <a:latin typeface="Calibri"/>
              </a:rPr>
              <a:t>Write anti-goals, not just goals</a:t>
            </a:r>
          </a:p>
        </p:txBody>
      </p:sp>
      <p:sp>
        <p:nvSpPr>
          <p:cNvPr id="6" name="TextBox 5"/>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7" name="TextBox 6"/>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Seven Failure Modes</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1</a:t>
            </a:r>
          </a:p>
        </p:txBody>
      </p:sp>
      <p:sp>
        <p:nvSpPr>
          <p:cNvPr id="6" name="TextBox 5"/>
          <p:cNvSpPr txBox="1"/>
          <p:nvPr/>
        </p:nvSpPr>
        <p:spPr>
          <a:xfrm>
            <a:off x="1417320" y="169164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Vibe-driven dev → write a spec</a:t>
            </a:r>
          </a:p>
        </p:txBody>
      </p:sp>
      <p:sp>
        <p:nvSpPr>
          <p:cNvPr id="7" name="TextBox 6"/>
          <p:cNvSpPr txBox="1"/>
          <p:nvPr/>
        </p:nvSpPr>
        <p:spPr>
          <a:xfrm>
            <a:off x="548640" y="246888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2</a:t>
            </a:r>
          </a:p>
        </p:txBody>
      </p:sp>
      <p:sp>
        <p:nvSpPr>
          <p:cNvPr id="8" name="TextBox 7"/>
          <p:cNvSpPr txBox="1"/>
          <p:nvPr/>
        </p:nvSpPr>
        <p:spPr>
          <a:xfrm>
            <a:off x="1417320" y="246888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Context starvation → AGENTS.md + MCP</a:t>
            </a:r>
          </a:p>
        </p:txBody>
      </p:sp>
      <p:sp>
        <p:nvSpPr>
          <p:cNvPr id="9" name="TextBox 8"/>
          <p:cNvSpPr txBox="1"/>
          <p:nvPr/>
        </p:nvSpPr>
        <p:spPr>
          <a:xfrm>
            <a:off x="548640" y="324612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3</a:t>
            </a:r>
          </a:p>
        </p:txBody>
      </p:sp>
      <p:sp>
        <p:nvSpPr>
          <p:cNvPr id="10" name="TextBox 9"/>
          <p:cNvSpPr txBox="1"/>
          <p:nvPr/>
        </p:nvSpPr>
        <p:spPr>
          <a:xfrm>
            <a:off x="1417320" y="324612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Trust drift → random deep reviews</a:t>
            </a:r>
          </a:p>
        </p:txBody>
      </p:sp>
      <p:sp>
        <p:nvSpPr>
          <p:cNvPr id="11" name="TextBox 10"/>
          <p:cNvSpPr txBox="1"/>
          <p:nvPr/>
        </p:nvSpPr>
        <p:spPr>
          <a:xfrm>
            <a:off x="548640" y="402336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4</a:t>
            </a:r>
          </a:p>
        </p:txBody>
      </p:sp>
      <p:sp>
        <p:nvSpPr>
          <p:cNvPr id="12" name="TextBox 11"/>
          <p:cNvSpPr txBox="1"/>
          <p:nvPr/>
        </p:nvSpPr>
        <p:spPr>
          <a:xfrm>
            <a:off x="1417320" y="402336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Agent ≠ loop → invest in artifacts</a:t>
            </a:r>
          </a:p>
        </p:txBody>
      </p:sp>
      <p:sp>
        <p:nvSpPr>
          <p:cNvPr id="13" name="TextBox 12"/>
          <p:cNvSpPr txBox="1"/>
          <p:nvPr/>
        </p:nvSpPr>
        <p:spPr>
          <a:xfrm>
            <a:off x="6278727" y="169164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5</a:t>
            </a:r>
          </a:p>
        </p:txBody>
      </p:sp>
      <p:sp>
        <p:nvSpPr>
          <p:cNvPr id="14" name="TextBox 13"/>
          <p:cNvSpPr txBox="1"/>
          <p:nvPr/>
        </p:nvSpPr>
        <p:spPr>
          <a:xfrm>
            <a:off x="7147407" y="169164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Invisible work → preserve traces</a:t>
            </a:r>
          </a:p>
        </p:txBody>
      </p:sp>
      <p:sp>
        <p:nvSpPr>
          <p:cNvPr id="15" name="TextBox 14"/>
          <p:cNvSpPr txBox="1"/>
          <p:nvPr/>
        </p:nvSpPr>
        <p:spPr>
          <a:xfrm>
            <a:off x="6278727" y="246888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6</a:t>
            </a:r>
          </a:p>
        </p:txBody>
      </p:sp>
      <p:sp>
        <p:nvSpPr>
          <p:cNvPr id="16" name="TextBox 15"/>
          <p:cNvSpPr txBox="1"/>
          <p:nvPr/>
        </p:nvSpPr>
        <p:spPr>
          <a:xfrm>
            <a:off x="7147407" y="246888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Deferred governance → decide in week one</a:t>
            </a:r>
          </a:p>
        </p:txBody>
      </p:sp>
      <p:sp>
        <p:nvSpPr>
          <p:cNvPr id="17" name="TextBox 16"/>
          <p:cNvSpPr txBox="1"/>
          <p:nvPr/>
        </p:nvSpPr>
        <p:spPr>
          <a:xfrm>
            <a:off x="6278727" y="3246120"/>
            <a:ext cx="777240" cy="777240"/>
          </a:xfrm>
          <a:prstGeom prst="rect">
            <a:avLst/>
          </a:prstGeom>
          <a:noFill/>
        </p:spPr>
        <p:txBody>
          <a:bodyPr wrap="square" anchor="ctr" lIns="45720" rIns="45720" tIns="18288" bIns="18288">
            <a:spAutoFit/>
          </a:bodyPr>
          <a:lstStyle/>
          <a:p>
            <a:pPr algn="l"/>
            <a:r>
              <a:rPr sz="4000" b="1">
                <a:solidFill>
                  <a:srgbClr val="5E8A00"/>
                </a:solidFill>
                <a:latin typeface="Calibri"/>
              </a:rPr>
              <a:t>7</a:t>
            </a:r>
          </a:p>
        </p:txBody>
      </p:sp>
      <p:sp>
        <p:nvSpPr>
          <p:cNvPr id="18" name="TextBox 17"/>
          <p:cNvSpPr txBox="1"/>
          <p:nvPr/>
        </p:nvSpPr>
        <p:spPr>
          <a:xfrm>
            <a:off x="7147407" y="3246120"/>
            <a:ext cx="4495647" cy="777240"/>
          </a:xfrm>
          <a:prstGeom prst="rect">
            <a:avLst/>
          </a:prstGeom>
          <a:noFill/>
        </p:spPr>
        <p:txBody>
          <a:bodyPr wrap="square" anchor="ctr" lIns="45720" rIns="45720" tIns="18288" bIns="18288">
            <a:spAutoFit/>
          </a:bodyPr>
          <a:lstStyle/>
          <a:p>
            <a:pPr algn="l"/>
            <a:r>
              <a:rPr sz="2000" b="0">
                <a:solidFill>
                  <a:srgbClr val="111111"/>
                </a:solidFill>
                <a:latin typeface="Calibri"/>
              </a:rPr>
              <a:t>Productivity ≠ capability → measure artifacts</a:t>
            </a:r>
          </a:p>
        </p:txBody>
      </p:sp>
      <p:sp>
        <p:nvSpPr>
          <p:cNvPr id="19" name="TextBox 1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20" name="TextBox 1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One-Page Memo</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3657600"/>
          </a:xfrm>
          <a:prstGeom prst="rect">
            <a:avLst/>
          </a:prstGeom>
          <a:noFill/>
        </p:spPr>
        <p:txBody>
          <a:bodyPr wrap="square" anchor="t">
            <a:spAutoFit/>
          </a:bodyPr>
          <a:lstStyle/>
          <a:p>
            <a:pPr algn="l">
              <a:lnSpc>
                <a:spcPct val="115000"/>
              </a:lnSpc>
              <a:spcAft>
                <a:spcPts val="1000"/>
              </a:spcAft>
            </a:pPr>
            <a:r>
              <a:rPr sz="2200" b="1">
                <a:solidFill>
                  <a:srgbClr val="0E7C86"/>
                </a:solidFill>
                <a:latin typeface="Calibri"/>
              </a:rPr>
              <a:t>■  </a:t>
            </a:r>
            <a:r>
              <a:rPr sz="2200" b="0">
                <a:solidFill>
                  <a:srgbClr val="111111"/>
                </a:solidFill>
                <a:latin typeface="Calibri"/>
              </a:rPr>
              <a:t>Loop scope: when is your loop AI-native?</a:t>
            </a:r>
          </a:p>
          <a:p>
            <a:pPr algn="l">
              <a:lnSpc>
                <a:spcPct val="115000"/>
              </a:lnSpc>
              <a:spcAft>
                <a:spcPts val="1000"/>
              </a:spcAft>
            </a:pPr>
            <a:r>
              <a:rPr sz="2200" b="1">
                <a:solidFill>
                  <a:srgbClr val="0E7C86"/>
                </a:solidFill>
                <a:latin typeface="Calibri"/>
              </a:rPr>
              <a:t>■  </a:t>
            </a:r>
            <a:r>
              <a:rPr sz="2200" b="0">
                <a:solidFill>
                  <a:srgbClr val="111111"/>
                </a:solidFill>
                <a:latin typeface="Calibri"/>
              </a:rPr>
              <a:t>Artifact criteria: what does every change retain?</a:t>
            </a:r>
          </a:p>
          <a:p>
            <a:pPr algn="l">
              <a:lnSpc>
                <a:spcPct val="115000"/>
              </a:lnSpc>
              <a:spcAft>
                <a:spcPts val="1000"/>
              </a:spcAft>
            </a:pPr>
            <a:r>
              <a:rPr sz="2200" b="1">
                <a:solidFill>
                  <a:srgbClr val="0E7C86"/>
                </a:solidFill>
                <a:latin typeface="Calibri"/>
              </a:rPr>
              <a:t>■  </a:t>
            </a:r>
            <a:r>
              <a:rPr sz="2200" b="0">
                <a:solidFill>
                  <a:srgbClr val="111111"/>
                </a:solidFill>
                <a:latin typeface="Calibri"/>
              </a:rPr>
              <a:t>Quality bars: what blocks a merge?</a:t>
            </a:r>
          </a:p>
          <a:p>
            <a:pPr algn="l">
              <a:lnSpc>
                <a:spcPct val="115000"/>
              </a:lnSpc>
              <a:spcAft>
                <a:spcPts val="1000"/>
              </a:spcAft>
            </a:pPr>
            <a:r>
              <a:rPr sz="2200" b="1">
                <a:solidFill>
                  <a:srgbClr val="0E7C86"/>
                </a:solidFill>
                <a:latin typeface="Calibri"/>
              </a:rPr>
              <a:t>■  </a:t>
            </a:r>
            <a:r>
              <a:rPr sz="2200" b="0">
                <a:solidFill>
                  <a:srgbClr val="111111"/>
                </a:solidFill>
                <a:latin typeface="Calibri"/>
              </a:rPr>
              <a:t>Human responsibility: which human, by role?</a:t>
            </a:r>
          </a:p>
          <a:p>
            <a:pPr algn="l">
              <a:lnSpc>
                <a:spcPct val="115000"/>
              </a:lnSpc>
              <a:spcAft>
                <a:spcPts val="1000"/>
              </a:spcAft>
            </a:pPr>
            <a:r>
              <a:rPr sz="2200" b="1">
                <a:solidFill>
                  <a:srgbClr val="0E7C86"/>
                </a:solidFill>
                <a:latin typeface="Calibri"/>
              </a:rPr>
              <a:t>■  </a:t>
            </a:r>
            <a:r>
              <a:rPr sz="2200" b="0">
                <a:solidFill>
                  <a:srgbClr val="111111"/>
                </a:solidFill>
                <a:latin typeface="Calibri"/>
              </a:rPr>
              <a:t>Anti-goals: what you will not optimize for</a:t>
            </a:r>
          </a:p>
          <a:p>
            <a:pPr algn="l">
              <a:lnSpc>
                <a:spcPct val="115000"/>
              </a:lnSpc>
              <a:spcAft>
                <a:spcPts val="1000"/>
              </a:spcAft>
            </a:pPr>
            <a:r>
              <a:rPr sz="2200" b="1">
                <a:solidFill>
                  <a:srgbClr val="0E7C86"/>
                </a:solidFill>
                <a:latin typeface="Calibri"/>
              </a:rPr>
              <a:t>■  </a:t>
            </a:r>
            <a:r>
              <a:rPr sz="2200" b="0">
                <a:solidFill>
                  <a:srgbClr val="111111"/>
                </a:solidFill>
                <a:latin typeface="Calibri"/>
              </a:rPr>
              <a:t>Review cadence: quarterly, with an owner</a:t>
            </a:r>
          </a:p>
        </p:txBody>
      </p:sp>
      <p:sp>
        <p:nvSpPr>
          <p:cNvPr id="6" name="Rounded Rectangle 5" descr="Chip: Write v1 this week."/>
          <p:cNvSpPr/>
          <p:nvPr/>
        </p:nvSpPr>
        <p:spPr>
          <a:xfrm>
            <a:off x="548640" y="5532120"/>
            <a:ext cx="3657600" cy="640080"/>
          </a:xfrm>
          <a:prstGeom prst="roundRect">
            <a:avLst>
              <a:gd name="adj" fmla="val 50000"/>
            </a:avLst>
          </a:prstGeom>
          <a:solidFill>
            <a:srgbClr val="5E8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2000" b="1">
                <a:solidFill>
                  <a:srgbClr val="111111"/>
                </a:solidFill>
                <a:latin typeface="Calibri"/>
              </a:rPr>
              <a:t>Write v1 this week.</a:t>
            </a:r>
          </a:p>
        </p:txBody>
      </p:sp>
      <p:sp>
        <p:nvSpPr>
          <p:cNvPr id="7" name="TextBox 6"/>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8" name="TextBox 7"/>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548640" y="457200"/>
            <a:ext cx="11094415" cy="822960"/>
          </a:xfrm>
        </p:spPr>
        <p:txBody>
          <a:bodyPr wrap="square" anchor="t" lIns="45720" rIns="45720" tIns="18288" bIns="18288"/>
          <a:lstStyle/>
          <a:p>
            <a:pPr algn="l"/>
            <a:r>
              <a:rPr sz="3600" b="1">
                <a:solidFill>
                  <a:srgbClr val="111111"/>
                </a:solidFill>
                <a:latin typeface="Calibri"/>
              </a:rPr>
              <a:t>Three Questions</a:t>
            </a:r>
          </a:p>
        </p:txBody>
      </p:sp>
      <p:sp>
        <p:nvSpPr>
          <p:cNvPr id="4" name="Rectangle 3" descr="Decorative accent rule"/>
          <p:cNvSpPr/>
          <p:nvPr/>
        </p:nvSpPr>
        <p:spPr>
          <a:xfrm>
            <a:off x="548640" y="1417320"/>
            <a:ext cx="1463040" cy="381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11094415" cy="2560320"/>
          </a:xfrm>
          <a:prstGeom prst="rect">
            <a:avLst/>
          </a:prstGeom>
          <a:noFill/>
        </p:spPr>
        <p:txBody>
          <a:bodyPr wrap="square" anchor="t">
            <a:spAutoFit/>
          </a:bodyPr>
          <a:lstStyle/>
          <a:p>
            <a:pPr algn="l">
              <a:lnSpc>
                <a:spcPct val="115000"/>
              </a:lnSpc>
              <a:spcAft>
                <a:spcPts val="1000"/>
              </a:spcAft>
            </a:pPr>
            <a:r>
              <a:rPr sz="2400" b="1">
                <a:solidFill>
                  <a:srgbClr val="0E7C86"/>
                </a:solidFill>
                <a:latin typeface="Calibri"/>
              </a:rPr>
              <a:t>■  </a:t>
            </a:r>
            <a:r>
              <a:rPr sz="2400" b="0">
                <a:solidFill>
                  <a:srgbClr val="111111"/>
                </a:solidFill>
                <a:latin typeface="Calibri"/>
              </a:rPr>
              <a:t>Who decided what done meant?</a:t>
            </a:r>
          </a:p>
          <a:p>
            <a:pPr algn="l">
              <a:lnSpc>
                <a:spcPct val="115000"/>
              </a:lnSpc>
              <a:spcAft>
                <a:spcPts val="1000"/>
              </a:spcAft>
            </a:pPr>
            <a:r>
              <a:rPr sz="2400" b="1">
                <a:solidFill>
                  <a:srgbClr val="0E7C86"/>
                </a:solidFill>
                <a:latin typeface="Calibri"/>
              </a:rPr>
              <a:t>■  </a:t>
            </a:r>
            <a:r>
              <a:rPr sz="2400" b="0">
                <a:solidFill>
                  <a:srgbClr val="111111"/>
                </a:solidFill>
                <a:latin typeface="Calibri"/>
              </a:rPr>
              <a:t>Which stage survives AI turning off tomorrow?</a:t>
            </a:r>
          </a:p>
          <a:p>
            <a:pPr algn="l">
              <a:lnSpc>
                <a:spcPct val="115000"/>
              </a:lnSpc>
              <a:spcAft>
                <a:spcPts val="1000"/>
              </a:spcAft>
            </a:pPr>
            <a:r>
              <a:rPr sz="2400" b="1">
                <a:solidFill>
                  <a:srgbClr val="0E7C86"/>
                </a:solidFill>
                <a:latin typeface="Calibri"/>
              </a:rPr>
              <a:t>■  </a:t>
            </a:r>
            <a:r>
              <a:rPr sz="2400" b="0">
                <a:solidFill>
                  <a:srgbClr val="111111"/>
                </a:solidFill>
                <a:latin typeface="Calibri"/>
              </a:rPr>
              <a:t>Which failure mode bites your team first?</a:t>
            </a:r>
          </a:p>
        </p:txBody>
      </p:sp>
      <p:sp>
        <p:nvSpPr>
          <p:cNvPr id="6" name="Rectangle 5" descr="Decorative accent bar"/>
          <p:cNvSpPr/>
          <p:nvPr/>
        </p:nvSpPr>
        <p:spPr>
          <a:xfrm>
            <a:off x="548640" y="4572000"/>
            <a:ext cx="76200" cy="10972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572000"/>
            <a:ext cx="10865815" cy="1097280"/>
          </a:xfrm>
          <a:prstGeom prst="rect">
            <a:avLst/>
          </a:prstGeom>
          <a:noFill/>
        </p:spPr>
        <p:txBody>
          <a:bodyPr wrap="square" anchor="ctr" lIns="45720" rIns="45720" tIns="18288" bIns="18288">
            <a:spAutoFit/>
          </a:bodyPr>
          <a:lstStyle/>
          <a:p>
            <a:pPr algn="l"/>
            <a:r>
              <a:rPr sz="2800" b="1">
                <a:solidFill>
                  <a:srgbClr val="111111"/>
                </a:solidFill>
                <a:latin typeface="Calibri"/>
              </a:rPr>
              <a:t>The AI-native cloud is a loop you design.</a:t>
            </a:r>
          </a:p>
        </p:txBody>
      </p:sp>
      <p:sp>
        <p:nvSpPr>
          <p:cNvPr id="8" name="TextBox 7"/>
          <p:cNvSpPr txBox="1"/>
          <p:nvPr/>
        </p:nvSpPr>
        <p:spPr>
          <a:xfrm>
            <a:off x="548640" y="5806440"/>
            <a:ext cx="11094415" cy="457200"/>
          </a:xfrm>
          <a:prstGeom prst="rect">
            <a:avLst/>
          </a:prstGeom>
          <a:noFill/>
        </p:spPr>
        <p:txBody>
          <a:bodyPr wrap="square" anchor="t" lIns="45720" rIns="45720" tIns="18288" bIns="18288">
            <a:spAutoFit/>
          </a:bodyPr>
          <a:lstStyle/>
          <a:p>
            <a:pPr algn="l"/>
            <a:r>
              <a:rPr sz="2000" b="0">
                <a:solidFill>
                  <a:srgbClr val="4A4A4A"/>
                </a:solidFill>
                <a:latin typeface="Calibri"/>
              </a:rPr>
              <a:t>Thank you  ·  Michelle Mei-Ling Sandford  ·  Asia DevOps Conference</a:t>
            </a:r>
          </a:p>
        </p:txBody>
      </p:sp>
      <p:sp>
        <p:nvSpPr>
          <p:cNvPr id="9" name="TextBox 8"/>
          <p:cNvSpPr txBox="1"/>
          <p:nvPr/>
        </p:nvSpPr>
        <p:spPr>
          <a:xfrm>
            <a:off x="548640" y="6400800"/>
            <a:ext cx="7315200" cy="320040"/>
          </a:xfrm>
          <a:prstGeom prst="rect">
            <a:avLst/>
          </a:prstGeom>
          <a:noFill/>
        </p:spPr>
        <p:txBody>
          <a:bodyPr wrap="square" anchor="ctr" lIns="45720" rIns="45720" tIns="18288" bIns="18288">
            <a:spAutoFit/>
          </a:bodyPr>
          <a:lstStyle/>
          <a:p>
            <a:pPr algn="l"/>
            <a:r>
              <a:rPr sz="1800" b="0">
                <a:solidFill>
                  <a:srgbClr val="4A4A4A"/>
                </a:solidFill>
                <a:latin typeface="Calibri"/>
              </a:rPr>
              <a:t>Building the AI-Native Cloud</a:t>
            </a:r>
          </a:p>
        </p:txBody>
      </p:sp>
      <p:sp>
        <p:nvSpPr>
          <p:cNvPr id="10" name="TextBox 9"/>
          <p:cNvSpPr txBox="1"/>
          <p:nvPr/>
        </p:nvSpPr>
        <p:spPr>
          <a:xfrm>
            <a:off x="9448495" y="6400800"/>
            <a:ext cx="2194560" cy="320040"/>
          </a:xfrm>
          <a:prstGeom prst="rect">
            <a:avLst/>
          </a:prstGeom>
          <a:noFill/>
        </p:spPr>
        <p:txBody>
          <a:bodyPr wrap="square" anchor="ctr" lIns="45720" rIns="45720" tIns="18288" bIns="18288">
            <a:spAutoFit/>
          </a:bodyPr>
          <a:lstStyle/>
          <a:p>
            <a:pPr algn="r"/>
            <a:r>
              <a:rPr sz="1800" b="0">
                <a:solidFill>
                  <a:srgbClr val="4A4A4A"/>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AI-Native Cloud</dc:title>
  <dc:subject>Building the AI-Native Cloud</dc:subject>
  <dc:creator>Michelle Mei-Ling Sandford</dc:creator>
  <cp:keywords>AI-native, cloud-native, DevOps, agents, AGENTS.md, MCP, Spec Kit, governance</cp:keywords>
  <dc:description>Light theme. Generated by build_decks.py. Calibri throughout, all text &gt;=18pt, WCAG AA contrast.</dc:description>
  <cp:lastModifiedBy>Steve Canny</cp:lastModifiedBy>
  <cp:revision>1</cp:revision>
  <dcterms:created xsi:type="dcterms:W3CDTF">2013-01-27T09:14:16Z</dcterms:created>
  <dcterms:modified xsi:type="dcterms:W3CDTF">2013-01-27T09:15:58Z</dcterms:modified>
  <cp:category/>
  <dc:language>en-US</dc:language>
</cp:coreProperties>
</file>